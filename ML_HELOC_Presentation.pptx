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66" r:id="rId15"/>
    <p:sldId id="273" r:id="rId16"/>
    <p:sldId id="272" r:id="rId17"/>
  </p:sldIdLst>
  <p:sldSz cx="12192000" cy="6858000"/>
  <p:notesSz cx="6858000" cy="9144000"/>
  <p:embeddedFontLst>
    <p:embeddedFont>
      <p:font typeface="Georgia" panose="02040502050405020303" pitchFamily="18" charset="0"/>
      <p:regular r:id="rId19"/>
      <p:bold r:id="rId20"/>
      <p:italic r:id="rId21"/>
      <p:boldItalic r:id="rId22"/>
    </p:embeddedFont>
    <p:embeddedFont>
      <p:font typeface="Play" pitchFamily="2" charset="0"/>
      <p:regular r:id="rId23"/>
      <p:bold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E57C39-44E9-4626-BC0E-627800A6D19A}">
  <a:tblStyle styleId="{D8E57C39-44E9-4626-BC0E-627800A6D1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01BF218-C540-4C69-946D-64C0742259B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92"/>
    <p:restoredTop sz="89110"/>
  </p:normalViewPr>
  <p:slideViewPr>
    <p:cSldViewPr snapToGrid="0">
      <p:cViewPr>
        <p:scale>
          <a:sx n="110" d="100"/>
          <a:sy n="110" d="100"/>
        </p:scale>
        <p:origin x="328" y="2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a64a3d5b4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3ca64a3d5b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a739e6280_6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a739e6280_6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3ca739e6280_6_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a739e6280_4_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g3ca739e6280_4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a739e6280_5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2" name="Google Shape;172;g3ca739e6280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a739e6280_4_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3ca739e6280_4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a739e6280_9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3ca739e6280_9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a739e6280_6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ca739e6280_6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ca739e6280_6_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ca739e6280_6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ca739e6280_6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3ca739e6280_6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ca739e6280_6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ca739e6280_6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g3ca739e6280_6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ca739e6280_6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3ca739e6280_6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ca739e6280_9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ca739e6280_9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g3ca739e6280_9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2" descr="A blue background with a blue banner and a book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48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814752" y="1923600"/>
            <a:ext cx="657078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Play"/>
              <a:buNone/>
              <a:defRPr sz="7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814752" y="4403275"/>
            <a:ext cx="657078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60"/>
              <a:buNone/>
              <a:defRPr sz="3200">
                <a:solidFill>
                  <a:srgbClr val="FFD82D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9448800" y="64746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 l="20646" t="41559" r="20912"/>
          <a:stretch/>
        </p:blipFill>
        <p:spPr>
          <a:xfrm>
            <a:off x="-1" y="0"/>
            <a:ext cx="12192001" cy="685848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831850" y="76835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831850" y="3739596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60"/>
              <a:buNone/>
              <a:defRPr sz="3200">
                <a:solidFill>
                  <a:srgbClr val="FFD82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/>
          <p:nvPr/>
        </p:nvSpPr>
        <p:spPr>
          <a:xfrm>
            <a:off x="9177255" y="6538269"/>
            <a:ext cx="419354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UNIVERSITY OF ROCHESTER</a:t>
            </a:r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9448800" y="64746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solidFill>
          <a:srgbClr val="FFD82D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453275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4000"/>
              <a:buFont typeface="Pla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501041" y="1572105"/>
            <a:ext cx="1164921" cy="51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001E5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2"/>
          </p:nvPr>
        </p:nvSpPr>
        <p:spPr>
          <a:xfrm>
            <a:off x="1941534" y="1572105"/>
            <a:ext cx="9118947" cy="51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>
                <a:solidFill>
                  <a:srgbClr val="001E5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3"/>
          </p:nvPr>
        </p:nvSpPr>
        <p:spPr>
          <a:xfrm>
            <a:off x="501041" y="2263772"/>
            <a:ext cx="1164921" cy="51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001E5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4"/>
          </p:nvPr>
        </p:nvSpPr>
        <p:spPr>
          <a:xfrm>
            <a:off x="1941534" y="2263772"/>
            <a:ext cx="9118947" cy="51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>
                <a:solidFill>
                  <a:srgbClr val="001E5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5"/>
          </p:nvPr>
        </p:nvSpPr>
        <p:spPr>
          <a:xfrm>
            <a:off x="501041" y="2955439"/>
            <a:ext cx="1164921" cy="51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001E5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6"/>
          </p:nvPr>
        </p:nvSpPr>
        <p:spPr>
          <a:xfrm>
            <a:off x="1941534" y="2955439"/>
            <a:ext cx="9118947" cy="51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>
                <a:solidFill>
                  <a:srgbClr val="001E5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7"/>
          </p:nvPr>
        </p:nvSpPr>
        <p:spPr>
          <a:xfrm>
            <a:off x="501041" y="3678640"/>
            <a:ext cx="1164921" cy="51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001E5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8"/>
          </p:nvPr>
        </p:nvSpPr>
        <p:spPr>
          <a:xfrm>
            <a:off x="1941534" y="3678640"/>
            <a:ext cx="9118947" cy="51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>
                <a:solidFill>
                  <a:srgbClr val="001E5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9"/>
          </p:nvPr>
        </p:nvSpPr>
        <p:spPr>
          <a:xfrm>
            <a:off x="501041" y="4368085"/>
            <a:ext cx="1164921" cy="51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001E5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3"/>
          </p:nvPr>
        </p:nvSpPr>
        <p:spPr>
          <a:xfrm>
            <a:off x="1941534" y="4368085"/>
            <a:ext cx="9118947" cy="51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>
                <a:solidFill>
                  <a:srgbClr val="001E5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body" idx="14"/>
          </p:nvPr>
        </p:nvSpPr>
        <p:spPr>
          <a:xfrm>
            <a:off x="501041" y="5091286"/>
            <a:ext cx="1164921" cy="51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001E5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5"/>
          </p:nvPr>
        </p:nvSpPr>
        <p:spPr>
          <a:xfrm>
            <a:off x="1941534" y="5091286"/>
            <a:ext cx="9118947" cy="51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>
                <a:solidFill>
                  <a:srgbClr val="001E5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448800" y="64746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oals">
  <p:cSld name="goals">
    <p:bg>
      <p:bgPr>
        <a:solidFill>
          <a:srgbClr val="FFF3AF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0" y="0"/>
            <a:ext cx="12192000" cy="6839745"/>
          </a:xfrm>
          <a:prstGeom prst="rect">
            <a:avLst/>
          </a:prstGeom>
          <a:solidFill>
            <a:srgbClr val="013D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 txBox="1">
            <a:spLocks noGrp="1"/>
          </p:cNvSpPr>
          <p:nvPr>
            <p:ph type="title"/>
          </p:nvPr>
        </p:nvSpPr>
        <p:spPr>
          <a:xfrm>
            <a:off x="453276" y="400609"/>
            <a:ext cx="442596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D82D"/>
              </a:buClr>
              <a:buSzPts val="4400"/>
              <a:buFont typeface="Play"/>
              <a:buNone/>
              <a:defRPr sz="4400">
                <a:solidFill>
                  <a:srgbClr val="FFD82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1"/>
          </p:nvPr>
        </p:nvSpPr>
        <p:spPr>
          <a:xfrm>
            <a:off x="5103530" y="378687"/>
            <a:ext cx="6926545" cy="1371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6" name="Google Shape;46;p5"/>
          <p:cNvCxnSpPr/>
          <p:nvPr/>
        </p:nvCxnSpPr>
        <p:spPr>
          <a:xfrm>
            <a:off x="0" y="2094619"/>
            <a:ext cx="12510052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7" name="Google Shape;47;p5"/>
          <p:cNvSpPr txBox="1">
            <a:spLocks noGrp="1"/>
          </p:cNvSpPr>
          <p:nvPr>
            <p:ph type="body" idx="2"/>
          </p:nvPr>
        </p:nvSpPr>
        <p:spPr>
          <a:xfrm>
            <a:off x="453276" y="2439162"/>
            <a:ext cx="706559" cy="43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60"/>
              <a:buNone/>
              <a:defRPr sz="3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3"/>
          </p:nvPr>
        </p:nvSpPr>
        <p:spPr>
          <a:xfrm>
            <a:off x="454026" y="2961618"/>
            <a:ext cx="2100459" cy="67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FFD82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body" idx="4"/>
          </p:nvPr>
        </p:nvSpPr>
        <p:spPr>
          <a:xfrm>
            <a:off x="454026" y="3728573"/>
            <a:ext cx="2100459" cy="1968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5"/>
          </p:nvPr>
        </p:nvSpPr>
        <p:spPr>
          <a:xfrm>
            <a:off x="2764520" y="2439162"/>
            <a:ext cx="706559" cy="43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60"/>
              <a:buNone/>
              <a:defRPr sz="3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6"/>
          </p:nvPr>
        </p:nvSpPr>
        <p:spPr>
          <a:xfrm>
            <a:off x="2778778" y="2961618"/>
            <a:ext cx="2100459" cy="67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FFD82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body" idx="7"/>
          </p:nvPr>
        </p:nvSpPr>
        <p:spPr>
          <a:xfrm>
            <a:off x="2778778" y="3728573"/>
            <a:ext cx="2100459" cy="1968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8"/>
          </p:nvPr>
        </p:nvSpPr>
        <p:spPr>
          <a:xfrm>
            <a:off x="5086984" y="2439162"/>
            <a:ext cx="706559" cy="43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60"/>
              <a:buNone/>
              <a:defRPr sz="3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9"/>
          </p:nvPr>
        </p:nvSpPr>
        <p:spPr>
          <a:xfrm>
            <a:off x="5103530" y="2961618"/>
            <a:ext cx="2100459" cy="67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FFD82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body" idx="13"/>
          </p:nvPr>
        </p:nvSpPr>
        <p:spPr>
          <a:xfrm>
            <a:off x="5103530" y="3728573"/>
            <a:ext cx="2100459" cy="1968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body" idx="14"/>
          </p:nvPr>
        </p:nvSpPr>
        <p:spPr>
          <a:xfrm>
            <a:off x="7415057" y="2439162"/>
            <a:ext cx="706559" cy="43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60"/>
              <a:buNone/>
              <a:defRPr sz="3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body" idx="15"/>
          </p:nvPr>
        </p:nvSpPr>
        <p:spPr>
          <a:xfrm>
            <a:off x="7428282" y="2961618"/>
            <a:ext cx="2100459" cy="67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FFD82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body" idx="16"/>
          </p:nvPr>
        </p:nvSpPr>
        <p:spPr>
          <a:xfrm>
            <a:off x="7428282" y="3728573"/>
            <a:ext cx="2100459" cy="1968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body" idx="17"/>
          </p:nvPr>
        </p:nvSpPr>
        <p:spPr>
          <a:xfrm>
            <a:off x="9743130" y="2439162"/>
            <a:ext cx="706559" cy="43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60"/>
              <a:buNone/>
              <a:defRPr sz="3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body" idx="18"/>
          </p:nvPr>
        </p:nvSpPr>
        <p:spPr>
          <a:xfrm>
            <a:off x="9753034" y="2961618"/>
            <a:ext cx="2100459" cy="67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FFD82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9"/>
          </p:nvPr>
        </p:nvSpPr>
        <p:spPr>
          <a:xfrm>
            <a:off x="9753034" y="3728573"/>
            <a:ext cx="2100459" cy="1968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sldNum" idx="12"/>
          </p:nvPr>
        </p:nvSpPr>
        <p:spPr>
          <a:xfrm>
            <a:off x="9448800" y="64746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5"/>
          <p:cNvSpPr txBox="1"/>
          <p:nvPr/>
        </p:nvSpPr>
        <p:spPr>
          <a:xfrm>
            <a:off x="9246828" y="6526377"/>
            <a:ext cx="419354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UNIVERSITY OF ROCHESTER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" type="twoObj">
  <p:cSld name="TWO_OBJEC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>
            <a:spLocks noGrp="1"/>
          </p:cNvSpPr>
          <p:nvPr>
            <p:ph type="title"/>
          </p:nvPr>
        </p:nvSpPr>
        <p:spPr>
          <a:xfrm>
            <a:off x="453275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0" y="1163782"/>
            <a:ext cx="4197927" cy="5694218"/>
          </a:xfrm>
          <a:prstGeom prst="rect">
            <a:avLst/>
          </a:prstGeom>
          <a:solidFill>
            <a:srgbClr val="FFD82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"/>
          <p:cNvSpPr txBox="1">
            <a:spLocks noGrp="1"/>
          </p:cNvSpPr>
          <p:nvPr>
            <p:ph type="body" idx="1"/>
          </p:nvPr>
        </p:nvSpPr>
        <p:spPr>
          <a:xfrm>
            <a:off x="453275" y="1676341"/>
            <a:ext cx="327914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body" idx="2"/>
          </p:nvPr>
        </p:nvSpPr>
        <p:spPr>
          <a:xfrm>
            <a:off x="4663440" y="1676341"/>
            <a:ext cx="630543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1pPr>
            <a:lvl2pPr marL="914400" lvl="1" indent="-32004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2pPr>
            <a:lvl3pPr marL="1371600" lvl="2" indent="-32003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3pPr>
            <a:lvl4pPr marL="1828800" lvl="3" indent="-32003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4pPr>
            <a:lvl5pPr marL="2286000" lvl="4" indent="-32003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9448800" y="64746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 txBox="1">
            <a:spLocks noGrp="1"/>
          </p:cNvSpPr>
          <p:nvPr>
            <p:ph type="title"/>
          </p:nvPr>
        </p:nvSpPr>
        <p:spPr>
          <a:xfrm>
            <a:off x="453275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body" idx="1"/>
          </p:nvPr>
        </p:nvSpPr>
        <p:spPr>
          <a:xfrm>
            <a:off x="453275" y="1674415"/>
            <a:ext cx="10515600" cy="3841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1pPr>
            <a:lvl2pPr marL="914400" lvl="1" indent="-32004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2pPr>
            <a:lvl3pPr marL="1371600" lvl="2" indent="-32003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3pPr>
            <a:lvl4pPr marL="1828800" lvl="3" indent="-32003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4pPr>
            <a:lvl5pPr marL="2286000" lvl="4" indent="-32003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7"/>
          <p:cNvSpPr txBox="1">
            <a:spLocks noGrp="1"/>
          </p:cNvSpPr>
          <p:nvPr>
            <p:ph type="sldNum" idx="12"/>
          </p:nvPr>
        </p:nvSpPr>
        <p:spPr>
          <a:xfrm>
            <a:off x="9448800" y="64746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453275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body" idx="1"/>
          </p:nvPr>
        </p:nvSpPr>
        <p:spPr>
          <a:xfrm>
            <a:off x="453275" y="1676341"/>
            <a:ext cx="5181600" cy="3925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1pPr>
            <a:lvl2pPr marL="914400" lvl="1" indent="-32004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2pPr>
            <a:lvl3pPr marL="1371600" lvl="2" indent="-32003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3pPr>
            <a:lvl4pPr marL="1828800" lvl="3" indent="-32003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4pPr>
            <a:lvl5pPr marL="2286000" lvl="4" indent="-32003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>
            <a:spLocks noGrp="1"/>
          </p:cNvSpPr>
          <p:nvPr>
            <p:ph type="pic" idx="2"/>
          </p:nvPr>
        </p:nvSpPr>
        <p:spPr>
          <a:xfrm>
            <a:off x="6096000" y="1155469"/>
            <a:ext cx="6096000" cy="570253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3" name="Google Shape;83;p9"/>
          <p:cNvSpPr txBox="1">
            <a:spLocks noGrp="1"/>
          </p:cNvSpPr>
          <p:nvPr>
            <p:ph type="sldNum" idx="12"/>
          </p:nvPr>
        </p:nvSpPr>
        <p:spPr>
          <a:xfrm>
            <a:off x="9448800" y="64746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 txBox="1">
            <a:spLocks noGrp="1"/>
          </p:cNvSpPr>
          <p:nvPr>
            <p:ph type="title"/>
          </p:nvPr>
        </p:nvSpPr>
        <p:spPr>
          <a:xfrm>
            <a:off x="453275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>
            <a:spLocks noGrp="1"/>
          </p:cNvSpPr>
          <p:nvPr>
            <p:ph type="pic" idx="2"/>
          </p:nvPr>
        </p:nvSpPr>
        <p:spPr>
          <a:xfrm>
            <a:off x="6096000" y="1155468"/>
            <a:ext cx="6096000" cy="5702531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0"/>
          <p:cNvSpPr txBox="1">
            <a:spLocks noGrp="1"/>
          </p:cNvSpPr>
          <p:nvPr>
            <p:ph type="sldNum" idx="12"/>
          </p:nvPr>
        </p:nvSpPr>
        <p:spPr>
          <a:xfrm>
            <a:off x="9448800" y="64746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wo Content">
  <p:cSld name="3_Two Content"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/>
          <p:nvPr/>
        </p:nvSpPr>
        <p:spPr>
          <a:xfrm>
            <a:off x="0" y="18255"/>
            <a:ext cx="12192000" cy="605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1"/>
          </p:nvPr>
        </p:nvSpPr>
        <p:spPr>
          <a:xfrm>
            <a:off x="453275" y="348456"/>
            <a:ext cx="4499725" cy="145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3200"/>
              <a:buNone/>
              <a:defRPr sz="4000">
                <a:solidFill>
                  <a:srgbClr val="001E5F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2"/>
          </p:nvPr>
        </p:nvSpPr>
        <p:spPr>
          <a:xfrm>
            <a:off x="453275" y="1845440"/>
            <a:ext cx="4499725" cy="1168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92" name="Google Shape;92;p11"/>
          <p:cNvCxnSpPr/>
          <p:nvPr/>
        </p:nvCxnSpPr>
        <p:spPr>
          <a:xfrm flipH="1">
            <a:off x="-114300" y="3103974"/>
            <a:ext cx="5422900" cy="18255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3" name="Google Shape;93;p11"/>
          <p:cNvSpPr txBox="1">
            <a:spLocks noGrp="1"/>
          </p:cNvSpPr>
          <p:nvPr>
            <p:ph type="body" idx="3"/>
          </p:nvPr>
        </p:nvSpPr>
        <p:spPr>
          <a:xfrm>
            <a:off x="453275" y="3212305"/>
            <a:ext cx="4499725" cy="145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3200"/>
              <a:buNone/>
              <a:defRPr sz="4000">
                <a:solidFill>
                  <a:srgbClr val="001E5F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4"/>
          </p:nvPr>
        </p:nvSpPr>
        <p:spPr>
          <a:xfrm>
            <a:off x="453275" y="4719799"/>
            <a:ext cx="4499725" cy="1168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95" name="Google Shape;95;p11"/>
          <p:cNvCxnSpPr/>
          <p:nvPr/>
        </p:nvCxnSpPr>
        <p:spPr>
          <a:xfrm>
            <a:off x="5308600" y="-88900"/>
            <a:ext cx="0" cy="71120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1"/>
          <p:cNvSpPr txBox="1">
            <a:spLocks noGrp="1"/>
          </p:cNvSpPr>
          <p:nvPr>
            <p:ph type="body" idx="5"/>
          </p:nvPr>
        </p:nvSpPr>
        <p:spPr>
          <a:xfrm>
            <a:off x="5717425" y="348853"/>
            <a:ext cx="6021300" cy="553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sldNum" idx="12"/>
          </p:nvPr>
        </p:nvSpPr>
        <p:spPr>
          <a:xfrm>
            <a:off x="9448800" y="64746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/>
          <p:nvPr/>
        </p:nvSpPr>
        <p:spPr>
          <a:xfrm>
            <a:off x="0" y="18255"/>
            <a:ext cx="12192000" cy="605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2"/>
          <p:cNvSpPr txBox="1">
            <a:spLocks noGrp="1"/>
          </p:cNvSpPr>
          <p:nvPr>
            <p:ph type="body" idx="1"/>
          </p:nvPr>
        </p:nvSpPr>
        <p:spPr>
          <a:xfrm>
            <a:off x="453275" y="348456"/>
            <a:ext cx="4499725" cy="145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3200"/>
              <a:buNone/>
              <a:defRPr sz="4000">
                <a:solidFill>
                  <a:srgbClr val="001E5F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2"/>
          <p:cNvSpPr>
            <a:spLocks noGrp="1"/>
          </p:cNvSpPr>
          <p:nvPr>
            <p:ph type="chart" idx="2"/>
          </p:nvPr>
        </p:nvSpPr>
        <p:spPr>
          <a:xfrm>
            <a:off x="5483227" y="2691604"/>
            <a:ext cx="2794000" cy="34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3DFF"/>
              </a:buClr>
              <a:buSzPts val="192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13DFF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13DFF"/>
              </a:buClr>
              <a:buSzPts val="144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13DFF"/>
              </a:buClr>
              <a:buSzPts val="128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13DFF"/>
              </a:buClr>
              <a:buSzPts val="128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12"/>
          <p:cNvSpPr>
            <a:spLocks noGrp="1"/>
          </p:cNvSpPr>
          <p:nvPr>
            <p:ph type="chart" idx="3"/>
          </p:nvPr>
        </p:nvSpPr>
        <p:spPr>
          <a:xfrm>
            <a:off x="8610600" y="2691604"/>
            <a:ext cx="2794000" cy="34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3DFF"/>
              </a:buClr>
              <a:buSzPts val="192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13DFF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13DFF"/>
              </a:buClr>
              <a:buSzPts val="144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13DFF"/>
              </a:buClr>
              <a:buSzPts val="128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13DFF"/>
              </a:buClr>
              <a:buSzPts val="128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sldNum" idx="12"/>
          </p:nvPr>
        </p:nvSpPr>
        <p:spPr>
          <a:xfrm>
            <a:off x="9448800" y="64746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3" descr="A blue background with a blue banner and a book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3" descr="A close-up of a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4752" y="720207"/>
            <a:ext cx="3029505" cy="71223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 txBox="1">
            <a:spLocks noGrp="1"/>
          </p:cNvSpPr>
          <p:nvPr>
            <p:ph type="ctrTitle"/>
          </p:nvPr>
        </p:nvSpPr>
        <p:spPr>
          <a:xfrm>
            <a:off x="814752" y="1923600"/>
            <a:ext cx="657078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Play"/>
              <a:buNone/>
              <a:defRPr sz="7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"/>
          </p:nvPr>
        </p:nvSpPr>
        <p:spPr>
          <a:xfrm>
            <a:off x="814752" y="4403275"/>
            <a:ext cx="657078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60"/>
              <a:buNone/>
              <a:defRPr sz="3200">
                <a:solidFill>
                  <a:srgbClr val="FFD82D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ldNum" idx="12"/>
          </p:nvPr>
        </p:nvSpPr>
        <p:spPr>
          <a:xfrm>
            <a:off x="9448800" y="64746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 txBox="1">
            <a:spLocks noGrp="1"/>
          </p:cNvSpPr>
          <p:nvPr>
            <p:ph type="sldNum" idx="12"/>
          </p:nvPr>
        </p:nvSpPr>
        <p:spPr>
          <a:xfrm>
            <a:off x="9448800" y="64746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3275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3200"/>
              <a:buFont typeface="Play"/>
              <a:buNone/>
              <a:defRPr sz="3200" b="0" i="0" u="none" strike="noStrike" cap="none">
                <a:solidFill>
                  <a:srgbClr val="001E5F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0" y="1155700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453275" y="1674415"/>
            <a:ext cx="10515600" cy="3841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052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3DFF"/>
              </a:buClr>
              <a:buSzPts val="192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13DFF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003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13DFF"/>
              </a:buClr>
              <a:buSzPts val="144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988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13DFF"/>
              </a:buClr>
              <a:buSzPts val="128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987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13DFF"/>
              </a:buClr>
              <a:buSzPts val="128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3" name="Google Shape;13;p1" descr="A blue logo with text&#10;&#10;AI-generated content may be incorrect.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53275" y="6196354"/>
            <a:ext cx="400451" cy="5234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9177255" y="6538269"/>
            <a:ext cx="4193540" cy="237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UNIVERSITY OF ROCHESTER</a:t>
            </a:r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9448800" y="64746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u="none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u="none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u="none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u="none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u="none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u="none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u="none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u="none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u="none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heloc-loans-prototype.streamlit.app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University of Rochester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4752" y="720207"/>
            <a:ext cx="3029505" cy="71223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>
            <a:spLocks noGrp="1"/>
          </p:cNvSpPr>
          <p:nvPr>
            <p:ph type="ctrTitle"/>
          </p:nvPr>
        </p:nvSpPr>
        <p:spPr>
          <a:xfrm>
            <a:off x="814752" y="1923600"/>
            <a:ext cx="657078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en-US" b="1"/>
              <a:t>LOAN DECISION SYSTEM</a:t>
            </a:r>
            <a:endParaRPr b="1"/>
          </a:p>
        </p:txBody>
      </p:sp>
      <p:sp>
        <p:nvSpPr>
          <p:cNvPr id="118" name="Google Shape;118;p15"/>
          <p:cNvSpPr txBox="1">
            <a:spLocks noGrp="1"/>
          </p:cNvSpPr>
          <p:nvPr>
            <p:ph type="subTitle" idx="1"/>
          </p:nvPr>
        </p:nvSpPr>
        <p:spPr>
          <a:xfrm>
            <a:off x="814752" y="4403275"/>
            <a:ext cx="657078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 sz="1800"/>
              <a:t>Haris Humayun, Elma Hsieh, James Muguiyi, Ethan Pochna</a:t>
            </a:r>
            <a:endParaRPr sz="1800"/>
          </a:p>
        </p:txBody>
      </p:sp>
      <p:sp>
        <p:nvSpPr>
          <p:cNvPr id="119" name="Google Shape;119;p15"/>
          <p:cNvSpPr txBox="1">
            <a:spLocks noGrp="1"/>
          </p:cNvSpPr>
          <p:nvPr>
            <p:ph type="sldNum" idx="12"/>
          </p:nvPr>
        </p:nvSpPr>
        <p:spPr>
          <a:xfrm>
            <a:off x="9448800" y="64746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>
            <a:spLocks noGrp="1"/>
          </p:cNvSpPr>
          <p:nvPr>
            <p:ph type="title"/>
          </p:nvPr>
        </p:nvSpPr>
        <p:spPr>
          <a:xfrm>
            <a:off x="4532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3200"/>
              <a:buFont typeface="Play"/>
              <a:buNone/>
            </a:pPr>
            <a:r>
              <a:rPr lang="en-US" sz="3400" b="1" dirty="0"/>
              <a:t>Table of Contents</a:t>
            </a:r>
            <a:endParaRPr sz="3400" b="1" dirty="0"/>
          </a:p>
        </p:txBody>
      </p:sp>
      <p:sp>
        <p:nvSpPr>
          <p:cNvPr id="125" name="Google Shape;125;p16"/>
          <p:cNvSpPr txBox="1">
            <a:spLocks noGrp="1"/>
          </p:cNvSpPr>
          <p:nvPr>
            <p:ph type="body" idx="1"/>
          </p:nvPr>
        </p:nvSpPr>
        <p:spPr>
          <a:xfrm>
            <a:off x="2961651" y="2353750"/>
            <a:ext cx="1336200" cy="36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7592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20"/>
              <a:buAutoNum type="arabicPeriod"/>
            </a:pPr>
            <a:r>
              <a:rPr lang="en-US" sz="3200" dirty="0"/>
              <a:t> </a:t>
            </a:r>
          </a:p>
          <a:p>
            <a:pPr marL="457200" lvl="0" indent="-37592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20"/>
              <a:buAutoNum type="arabicPeriod"/>
            </a:pPr>
            <a:r>
              <a:rPr lang="en-US" sz="3200" dirty="0"/>
              <a:t> </a:t>
            </a:r>
          </a:p>
          <a:p>
            <a:pPr marL="457200" lvl="0" indent="-37592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20"/>
              <a:buAutoNum type="arabicPeriod"/>
            </a:pPr>
            <a:r>
              <a:rPr lang="en-US" sz="3200" dirty="0"/>
              <a:t> </a:t>
            </a:r>
          </a:p>
          <a:p>
            <a:pPr marL="457200" lvl="0" indent="-37592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20"/>
              <a:buAutoNum type="arabicPeriod"/>
            </a:pPr>
            <a:r>
              <a:rPr lang="en-US" sz="3200" dirty="0"/>
              <a:t> </a:t>
            </a:r>
          </a:p>
          <a:p>
            <a:pPr marL="457200" lvl="0" indent="-37592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20"/>
              <a:buAutoNum type="arabicPeriod"/>
            </a:pPr>
            <a:r>
              <a:rPr lang="en-US" sz="3200" dirty="0"/>
              <a:t> </a:t>
            </a:r>
            <a:endParaRPr sz="3200" dirty="0"/>
          </a:p>
          <a:p>
            <a:pPr marL="457200" lvl="0" indent="-37592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20"/>
              <a:buAutoNum type="arabicPeriod"/>
            </a:pPr>
            <a:endParaRPr sz="3200" dirty="0"/>
          </a:p>
        </p:txBody>
      </p:sp>
      <p:sp>
        <p:nvSpPr>
          <p:cNvPr id="126" name="Google Shape;126;p16"/>
          <p:cNvSpPr txBox="1">
            <a:spLocks noGrp="1"/>
          </p:cNvSpPr>
          <p:nvPr>
            <p:ph type="body" idx="2"/>
          </p:nvPr>
        </p:nvSpPr>
        <p:spPr>
          <a:xfrm>
            <a:off x="4297851" y="1676350"/>
            <a:ext cx="69585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Improvement from Previous Methods</a:t>
            </a:r>
            <a:endParaRPr sz="28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Data &amp; Preprocessing</a:t>
            </a:r>
            <a:endParaRPr sz="28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Model Selection</a:t>
            </a:r>
            <a:endParaRPr sz="28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Prototype Demo</a:t>
            </a:r>
            <a:endParaRPr sz="28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Future Considerations</a:t>
            </a:r>
            <a:endParaRPr sz="2800"/>
          </a:p>
        </p:txBody>
      </p:sp>
      <p:sp>
        <p:nvSpPr>
          <p:cNvPr id="127" name="Google Shape;127;p16"/>
          <p:cNvSpPr txBox="1">
            <a:spLocks noGrp="1"/>
          </p:cNvSpPr>
          <p:nvPr>
            <p:ph type="sldNum" idx="12"/>
          </p:nvPr>
        </p:nvSpPr>
        <p:spPr>
          <a:xfrm>
            <a:off x="9448800" y="647462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>
            <a:spLocks noGrp="1"/>
          </p:cNvSpPr>
          <p:nvPr>
            <p:ph type="sldNum" idx="12"/>
          </p:nvPr>
        </p:nvSpPr>
        <p:spPr>
          <a:xfrm>
            <a:off x="9448800" y="64746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graphicFrame>
        <p:nvGraphicFramePr>
          <p:cNvPr id="133" name="Google Shape;133;p17"/>
          <p:cNvGraphicFramePr/>
          <p:nvPr/>
        </p:nvGraphicFramePr>
        <p:xfrm>
          <a:off x="2557013" y="1519889"/>
          <a:ext cx="6308125" cy="2377260"/>
        </p:xfrm>
        <a:graphic>
          <a:graphicData uri="http://schemas.openxmlformats.org/drawingml/2006/table">
            <a:tbl>
              <a:tblPr>
                <a:noFill/>
                <a:tableStyleId>{D8E57C39-44E9-4626-BC0E-627800A6D19A}</a:tableStyleId>
              </a:tblPr>
              <a:tblGrid>
                <a:gridCol w="313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Metric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Value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Annual Applications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10,000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Manual Review Time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30–40 minutes / application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Officer Cost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$50 / hour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Cost per Application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$30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Total Annual Review Cost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$300,000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4" name="Google Shape;134;p17"/>
          <p:cNvGraphicFramePr/>
          <p:nvPr/>
        </p:nvGraphicFramePr>
        <p:xfrm>
          <a:off x="2259925" y="4213631"/>
          <a:ext cx="6902325" cy="1188630"/>
        </p:xfrm>
        <a:graphic>
          <a:graphicData uri="http://schemas.openxmlformats.org/drawingml/2006/table">
            <a:tbl>
              <a:tblPr>
                <a:noFill/>
                <a:tableStyleId>{D8E57C39-44E9-4626-BC0E-627800A6D19A}</a:tableStyleId>
              </a:tblPr>
              <a:tblGrid>
                <a:gridCol w="345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Error Type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Estimated Cost per Case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False Approval (Bad approved)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$780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False Rejection (Good denied)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$1,500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5" name="Google Shape;135;p17"/>
          <p:cNvSpPr txBox="1">
            <a:spLocks noGrp="1"/>
          </p:cNvSpPr>
          <p:nvPr>
            <p:ph type="title"/>
          </p:nvPr>
        </p:nvSpPr>
        <p:spPr>
          <a:xfrm>
            <a:off x="4532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3200"/>
              <a:buFont typeface="Play"/>
              <a:buNone/>
            </a:pPr>
            <a:r>
              <a:rPr lang="en-US" b="1"/>
              <a:t>Current Business Practices</a:t>
            </a:r>
            <a:endParaRPr b="1"/>
          </a:p>
        </p:txBody>
      </p:sp>
      <p:sp>
        <p:nvSpPr>
          <p:cNvPr id="136" name="Google Shape;136;p17"/>
          <p:cNvSpPr txBox="1"/>
          <p:nvPr/>
        </p:nvSpPr>
        <p:spPr>
          <a:xfrm>
            <a:off x="1966300" y="5486425"/>
            <a:ext cx="87633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</a:rPr>
              <a:t>False approvals are ~0.52x more costly than false rejections.</a:t>
            </a:r>
            <a:endParaRPr sz="22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>
            <a:spLocks noGrp="1"/>
          </p:cNvSpPr>
          <p:nvPr>
            <p:ph type="title"/>
          </p:nvPr>
        </p:nvSpPr>
        <p:spPr>
          <a:xfrm>
            <a:off x="453275" y="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Target Model Performance ( Cost Benefit Analysis)</a:t>
            </a:r>
            <a:endParaRPr b="1"/>
          </a:p>
        </p:txBody>
      </p:sp>
      <p:sp>
        <p:nvSpPr>
          <p:cNvPr id="161" name="Google Shape;161;p19"/>
          <p:cNvSpPr txBox="1">
            <a:spLocks noGrp="1"/>
          </p:cNvSpPr>
          <p:nvPr>
            <p:ph type="sldNum" idx="12"/>
          </p:nvPr>
        </p:nvSpPr>
        <p:spPr>
          <a:xfrm>
            <a:off x="9448800" y="647462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aphicFrame>
        <p:nvGraphicFramePr>
          <p:cNvPr id="162" name="Google Shape;162;p19"/>
          <p:cNvGraphicFramePr/>
          <p:nvPr>
            <p:extLst>
              <p:ext uri="{D42A27DB-BD31-4B8C-83A1-F6EECF244321}">
                <p14:modId xmlns:p14="http://schemas.microsoft.com/office/powerpoint/2010/main" val="17463327"/>
              </p:ext>
            </p:extLst>
          </p:nvPr>
        </p:nvGraphicFramePr>
        <p:xfrm>
          <a:off x="453275" y="1472750"/>
          <a:ext cx="10515600" cy="4587325"/>
        </p:xfrm>
        <a:graphic>
          <a:graphicData uri="http://schemas.openxmlformats.org/drawingml/2006/table">
            <a:tbl>
              <a:tblPr>
                <a:noFill/>
                <a:tableStyleId>{701BF218-C540-4C69-946D-64C0742259BB}</a:tableStyleId>
              </a:tblPr>
              <a:tblGrid>
                <a:gridCol w="150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2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8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20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15125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Bad Precision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Bad Recall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F₀.₇₂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TP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FP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Annual Savings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Status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700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0.60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0.70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0.63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3,640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2,427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−$728K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Unprofitable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700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</a:rPr>
                        <a:t>0.65 </a:t>
                      </a:r>
                      <a:endParaRPr sz="1500" b="1">
                        <a:solidFill>
                          <a:schemeClr val="bg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</a:rPr>
                        <a:t>0.65 </a:t>
                      </a:r>
                      <a:endParaRPr sz="1500" b="1">
                        <a:solidFill>
                          <a:schemeClr val="bg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</a:rPr>
                        <a:t>0.65 </a:t>
                      </a:r>
                      <a:endParaRPr sz="1500" b="1">
                        <a:solidFill>
                          <a:schemeClr val="bg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</a:rPr>
                        <a:t>3,380 </a:t>
                      </a:r>
                      <a:endParaRPr sz="1500" b="1">
                        <a:solidFill>
                          <a:schemeClr val="bg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</a:rPr>
                        <a:t>1,820 </a:t>
                      </a:r>
                      <a:endParaRPr sz="1500" b="1">
                        <a:solidFill>
                          <a:schemeClr val="bg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</a:rPr>
                        <a:t>−$39K </a:t>
                      </a:r>
                      <a:endParaRPr sz="1500" b="1">
                        <a:solidFill>
                          <a:schemeClr val="bg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 dirty="0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</a:rPr>
                        <a:t>~ Almost Breakeven </a:t>
                      </a:r>
                      <a:endParaRPr sz="1500" b="1" dirty="0">
                        <a:solidFill>
                          <a:schemeClr val="bg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700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0.70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0.65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0.68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3,380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1,449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+$506K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Profitable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700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0.70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0.75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0.72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3,900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1,671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+$586K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Profitable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700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0.75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0.70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0.73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3,640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1,213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+$1.06M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Profitable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700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0.80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0.65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0.74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3,380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/>
                        <a:t>845 </a:t>
                      </a:r>
                      <a:endParaRPr sz="1500" b="1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 dirty="0"/>
                        <a:t>+$1.39M </a:t>
                      </a:r>
                      <a:endParaRPr sz="1500" b="1" dirty="0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500" b="1" dirty="0"/>
                        <a:t>Profitable </a:t>
                      </a:r>
                      <a:endParaRPr sz="1500" b="1" dirty="0"/>
                    </a:p>
                  </a:txBody>
                  <a:tcPr marL="91425" marR="9142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 txBox="1">
            <a:spLocks noGrp="1"/>
          </p:cNvSpPr>
          <p:nvPr>
            <p:ph type="title"/>
          </p:nvPr>
        </p:nvSpPr>
        <p:spPr>
          <a:xfrm>
            <a:off x="4532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3200"/>
              <a:buFont typeface="Play"/>
              <a:buNone/>
            </a:pPr>
            <a:r>
              <a:rPr lang="en-US" b="1" dirty="0"/>
              <a:t>Dataset &amp; Preprocessing</a:t>
            </a:r>
            <a:endParaRPr b="1" dirty="0"/>
          </a:p>
        </p:txBody>
      </p:sp>
      <p:sp>
        <p:nvSpPr>
          <p:cNvPr id="168" name="Google Shape;168;p20"/>
          <p:cNvSpPr txBox="1">
            <a:spLocks noGrp="1"/>
          </p:cNvSpPr>
          <p:nvPr>
            <p:ph type="body" idx="1"/>
          </p:nvPr>
        </p:nvSpPr>
        <p:spPr>
          <a:xfrm>
            <a:off x="458757" y="1329048"/>
            <a:ext cx="11732700" cy="49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42900" algn="l" rtl="0">
              <a:lnSpc>
                <a:spcPct val="25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 dirty="0"/>
              <a:t>~10,000 applicants, 23 numeric credit behavior features, binary target (Good/Bad)</a:t>
            </a:r>
            <a:endParaRPr sz="1800" dirty="0"/>
          </a:p>
          <a:p>
            <a:pPr marL="457200" lvl="0" indent="-3429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 dirty="0"/>
              <a:t>⁠Identified missing codes: -7 = “Never occurred”, -8/-9 = insufficient or missing credit history</a:t>
            </a:r>
            <a:endParaRPr sz="1800" dirty="0"/>
          </a:p>
          <a:p>
            <a:pPr marL="457200" lvl="0" indent="-3429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 dirty="0"/>
              <a:t>Evaluated feature correlations, missingness, outliers, and multicollinearity, etc. </a:t>
            </a:r>
            <a:endParaRPr sz="1800" dirty="0"/>
          </a:p>
          <a:p>
            <a:pPr marL="457200" lvl="0" indent="-3429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 dirty="0"/>
              <a:t>Imputed missing codes with median (for -8/-9) and </a:t>
            </a:r>
            <a:r>
              <a:rPr lang="en-US" sz="1800" dirty="0" err="1"/>
              <a:t>column.max</a:t>
            </a:r>
            <a:r>
              <a:rPr lang="en-US" sz="1800" dirty="0"/>
              <a:t> + </a:t>
            </a:r>
            <a:r>
              <a:rPr lang="en-US" sz="1800" dirty="0" err="1"/>
              <a:t>column.std</a:t>
            </a:r>
            <a:r>
              <a:rPr lang="en-US" sz="1800" dirty="0"/>
              <a:t> (for -7) without removing meaningful borrower groups</a:t>
            </a:r>
            <a:endParaRPr sz="1800" dirty="0"/>
          </a:p>
        </p:txBody>
      </p:sp>
      <p:sp>
        <p:nvSpPr>
          <p:cNvPr id="169" name="Google Shape;169;p20"/>
          <p:cNvSpPr txBox="1">
            <a:spLocks noGrp="1"/>
          </p:cNvSpPr>
          <p:nvPr>
            <p:ph type="sldNum" idx="12"/>
          </p:nvPr>
        </p:nvSpPr>
        <p:spPr>
          <a:xfrm>
            <a:off x="9448800" y="647462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 txBox="1">
            <a:spLocks noGrp="1"/>
          </p:cNvSpPr>
          <p:nvPr>
            <p:ph type="title"/>
          </p:nvPr>
        </p:nvSpPr>
        <p:spPr>
          <a:xfrm>
            <a:off x="4532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3200"/>
              <a:buFont typeface="Play"/>
              <a:buNone/>
            </a:pPr>
            <a:r>
              <a:rPr lang="en-US" b="1"/>
              <a:t>Excluded Models</a:t>
            </a:r>
            <a:endParaRPr b="1"/>
          </a:p>
        </p:txBody>
      </p:sp>
      <p:sp>
        <p:nvSpPr>
          <p:cNvPr id="175" name="Google Shape;175;p21"/>
          <p:cNvSpPr txBox="1">
            <a:spLocks noGrp="1"/>
          </p:cNvSpPr>
          <p:nvPr>
            <p:ph type="sldNum" idx="12"/>
          </p:nvPr>
        </p:nvSpPr>
        <p:spPr>
          <a:xfrm>
            <a:off x="9448800" y="647462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grpSp>
        <p:nvGrpSpPr>
          <p:cNvPr id="176" name="Google Shape;176;p21"/>
          <p:cNvGrpSpPr/>
          <p:nvPr/>
        </p:nvGrpSpPr>
        <p:grpSpPr>
          <a:xfrm>
            <a:off x="1161521" y="1390000"/>
            <a:ext cx="3249356" cy="4793031"/>
            <a:chOff x="1118222" y="283725"/>
            <a:chExt cx="2090828" cy="4076400"/>
          </a:xfrm>
        </p:grpSpPr>
        <p:sp>
          <p:nvSpPr>
            <p:cNvPr id="177" name="Google Shape;177;p21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001E5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1"/>
            <p:cNvSpPr/>
            <p:nvPr/>
          </p:nvSpPr>
          <p:spPr>
            <a:xfrm>
              <a:off x="1118222" y="341741"/>
              <a:ext cx="2030400" cy="17760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FFD82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1"/>
            <p:cNvSpPr/>
            <p:nvPr/>
          </p:nvSpPr>
          <p:spPr>
            <a:xfrm>
              <a:off x="1233850" y="470600"/>
              <a:ext cx="18150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 b="1">
                  <a:solidFill>
                    <a:schemeClr val="dk1"/>
                  </a:solidFill>
                </a:rPr>
                <a:t>KNN</a:t>
              </a:r>
              <a:endParaRPr sz="4500">
                <a:solidFill>
                  <a:schemeClr val="dk1"/>
                </a:solidFill>
              </a:endParaRPr>
            </a:p>
          </p:txBody>
        </p:sp>
        <p:sp>
          <p:nvSpPr>
            <p:cNvPr id="180" name="Google Shape;180;p21"/>
            <p:cNvSpPr/>
            <p:nvPr/>
          </p:nvSpPr>
          <p:spPr>
            <a:xfrm rot="5400000">
              <a:off x="1994663" y="2044381"/>
              <a:ext cx="277500" cy="278100"/>
            </a:xfrm>
            <a:prstGeom prst="rightArrow">
              <a:avLst>
                <a:gd name="adj1" fmla="val 34239"/>
                <a:gd name="adj2" fmla="val 57035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1"/>
            <p:cNvSpPr/>
            <p:nvPr/>
          </p:nvSpPr>
          <p:spPr>
            <a:xfrm>
              <a:off x="1118303" y="2410468"/>
              <a:ext cx="2030400" cy="1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609600" lvl="0" indent="-3746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Char char="●"/>
              </a:pPr>
              <a:r>
                <a:rPr lang="en-US" sz="1100">
                  <a:solidFill>
                    <a:srgbClr val="FFFFFF"/>
                  </a:solidFill>
                </a:rPr>
                <a:t>Highly sensitive to missing values, which are prevalent in this dataset.</a:t>
              </a:r>
              <a:endParaRPr sz="1100">
                <a:solidFill>
                  <a:srgbClr val="FFFFFF"/>
                </a:solidFill>
              </a:endParaRPr>
            </a:p>
            <a:p>
              <a:pPr marL="609600" lvl="0" indent="-3746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Char char="●"/>
              </a:pPr>
              <a:r>
                <a:rPr lang="en-US" sz="1100">
                  <a:solidFill>
                    <a:srgbClr val="FFFFFF"/>
                  </a:solidFill>
                </a:rPr>
                <a:t>Performance degrades in higher-dimensional feature spaces.</a:t>
              </a:r>
              <a:endParaRPr sz="1100">
                <a:solidFill>
                  <a:srgbClr val="FFFFFF"/>
                </a:solidFill>
              </a:endParaRPr>
            </a:p>
            <a:p>
              <a:pPr marL="609600" lvl="0" indent="-3746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Char char="●"/>
              </a:pPr>
              <a:r>
                <a:rPr lang="en-US" sz="1100">
                  <a:solidFill>
                    <a:srgbClr val="FFFFFF"/>
                  </a:solidFill>
                </a:rPr>
                <a:t>The model lacks clear interpretability, making it difficult to justify lending decisions.</a:t>
              </a:r>
              <a:endParaRPr sz="1100">
                <a:solidFill>
                  <a:srgbClr val="FFFFFF"/>
                </a:solidFill>
              </a:endParaRPr>
            </a:p>
          </p:txBody>
        </p:sp>
      </p:grpSp>
      <p:grpSp>
        <p:nvGrpSpPr>
          <p:cNvPr id="182" name="Google Shape;182;p21"/>
          <p:cNvGrpSpPr/>
          <p:nvPr/>
        </p:nvGrpSpPr>
        <p:grpSpPr>
          <a:xfrm>
            <a:off x="4411034" y="1390000"/>
            <a:ext cx="3309651" cy="4793031"/>
            <a:chOff x="1079425" y="283725"/>
            <a:chExt cx="2129625" cy="4076400"/>
          </a:xfrm>
        </p:grpSpPr>
        <p:sp>
          <p:nvSpPr>
            <p:cNvPr id="183" name="Google Shape;183;p21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001E5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1"/>
            <p:cNvSpPr/>
            <p:nvPr/>
          </p:nvSpPr>
          <p:spPr>
            <a:xfrm>
              <a:off x="1118232" y="341741"/>
              <a:ext cx="2030400" cy="17682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FFD82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1"/>
            <p:cNvSpPr/>
            <p:nvPr/>
          </p:nvSpPr>
          <p:spPr>
            <a:xfrm>
              <a:off x="1233850" y="470600"/>
              <a:ext cx="18150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 b="1">
                  <a:solidFill>
                    <a:schemeClr val="dk1"/>
                  </a:solidFill>
                </a:rPr>
                <a:t>Kernel SVM</a:t>
              </a:r>
              <a:endParaRPr sz="4500">
                <a:solidFill>
                  <a:schemeClr val="dk1"/>
                </a:solidFill>
              </a:endParaRPr>
            </a:p>
          </p:txBody>
        </p:sp>
        <p:sp>
          <p:nvSpPr>
            <p:cNvPr id="186" name="Google Shape;186;p21"/>
            <p:cNvSpPr/>
            <p:nvPr/>
          </p:nvSpPr>
          <p:spPr>
            <a:xfrm rot="5400000">
              <a:off x="1995274" y="2036232"/>
              <a:ext cx="276300" cy="278100"/>
            </a:xfrm>
            <a:prstGeom prst="rightArrow">
              <a:avLst>
                <a:gd name="adj1" fmla="val 34239"/>
                <a:gd name="adj2" fmla="val 57035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1"/>
            <p:cNvSpPr/>
            <p:nvPr/>
          </p:nvSpPr>
          <p:spPr>
            <a:xfrm>
              <a:off x="1079425" y="2404471"/>
              <a:ext cx="2030400" cy="176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609600" lvl="0" indent="-3746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Char char="●"/>
              </a:pPr>
              <a:r>
                <a:rPr lang="en-US" sz="1100">
                  <a:solidFill>
                    <a:srgbClr val="FFFFFF"/>
                  </a:solidFill>
                </a:rPr>
                <a:t>High computational complexity for training at this sample size.</a:t>
              </a:r>
              <a:endParaRPr sz="1100">
                <a:solidFill>
                  <a:srgbClr val="FFFFFF"/>
                </a:solidFill>
              </a:endParaRPr>
            </a:p>
            <a:p>
              <a:pPr marL="609600" lvl="0" indent="-3746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Char char="●"/>
              </a:pPr>
              <a:r>
                <a:rPr lang="en-US" sz="1100">
                  <a:solidFill>
                    <a:srgbClr val="FFFFFF"/>
                  </a:solidFill>
                </a:rPr>
                <a:t>Sensitivity to feature scaling and missing value imputation.</a:t>
              </a:r>
              <a:endParaRPr sz="1100">
                <a:solidFill>
                  <a:srgbClr val="FFFFFF"/>
                </a:solidFill>
              </a:endParaRPr>
            </a:p>
            <a:p>
              <a:pPr marL="609600" lvl="0" indent="-3746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Char char="●"/>
              </a:pPr>
              <a:r>
                <a:rPr lang="en-US" sz="1100">
                  <a:solidFill>
                    <a:srgbClr val="FFFFFF"/>
                  </a:solidFill>
                </a:rPr>
                <a:t>The need for additional calibration steps to obtain probability outputs.</a:t>
              </a:r>
              <a:endParaRPr sz="1100">
                <a:solidFill>
                  <a:srgbClr val="FFFFFF"/>
                </a:solidFill>
              </a:endParaRPr>
            </a:p>
          </p:txBody>
        </p:sp>
      </p:grpSp>
      <p:grpSp>
        <p:nvGrpSpPr>
          <p:cNvPr id="188" name="Google Shape;188;p21"/>
          <p:cNvGrpSpPr/>
          <p:nvPr/>
        </p:nvGrpSpPr>
        <p:grpSpPr>
          <a:xfrm>
            <a:off x="7781138" y="1390000"/>
            <a:ext cx="3249356" cy="4793031"/>
            <a:chOff x="1118222" y="283725"/>
            <a:chExt cx="2090828" cy="4076400"/>
          </a:xfrm>
        </p:grpSpPr>
        <p:sp>
          <p:nvSpPr>
            <p:cNvPr id="189" name="Google Shape;189;p21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001E5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1"/>
            <p:cNvSpPr/>
            <p:nvPr/>
          </p:nvSpPr>
          <p:spPr>
            <a:xfrm>
              <a:off x="1118222" y="341741"/>
              <a:ext cx="2030400" cy="17601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FFD82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1"/>
            <p:cNvSpPr/>
            <p:nvPr/>
          </p:nvSpPr>
          <p:spPr>
            <a:xfrm>
              <a:off x="1178661" y="470602"/>
              <a:ext cx="1951800" cy="68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 b="1">
                  <a:solidFill>
                    <a:schemeClr val="dk1"/>
                  </a:solidFill>
                </a:rPr>
                <a:t>Deep Learning</a:t>
              </a:r>
              <a:endParaRPr sz="4500">
                <a:solidFill>
                  <a:schemeClr val="dk1"/>
                </a:solidFill>
              </a:endParaRPr>
            </a:p>
          </p:txBody>
        </p:sp>
        <p:sp>
          <p:nvSpPr>
            <p:cNvPr id="192" name="Google Shape;192;p21"/>
            <p:cNvSpPr/>
            <p:nvPr/>
          </p:nvSpPr>
          <p:spPr>
            <a:xfrm rot="5400000">
              <a:off x="1995864" y="2027858"/>
              <a:ext cx="275100" cy="278100"/>
            </a:xfrm>
            <a:prstGeom prst="rightArrow">
              <a:avLst>
                <a:gd name="adj1" fmla="val 34239"/>
                <a:gd name="adj2" fmla="val 57035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1"/>
            <p:cNvSpPr/>
            <p:nvPr/>
          </p:nvSpPr>
          <p:spPr>
            <a:xfrm>
              <a:off x="1148438" y="2357498"/>
              <a:ext cx="2030400" cy="16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609600" lvl="0" indent="-3746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Char char="●"/>
              </a:pPr>
              <a:r>
                <a:rPr lang="en-US" sz="1100">
                  <a:solidFill>
                    <a:srgbClr val="FFFFFF"/>
                  </a:solidFill>
                </a:rPr>
                <a:t>The dataset size is small for deep neural architectures.</a:t>
              </a:r>
              <a:endParaRPr sz="1100">
                <a:solidFill>
                  <a:srgbClr val="FFFFFF"/>
                </a:solidFill>
              </a:endParaRPr>
            </a:p>
            <a:p>
              <a:pPr marL="609600" lvl="0" indent="-3746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Char char="●"/>
              </a:pPr>
              <a:r>
                <a:rPr lang="en-US" sz="1100">
                  <a:solidFill>
                    <a:srgbClr val="FFFFFF"/>
                  </a:solidFill>
                </a:rPr>
                <a:t>Interpretability is critical in credit risk applications, particularly for explaining automated denials.</a:t>
              </a:r>
              <a:endParaRPr sz="1100">
                <a:solidFill>
                  <a:srgbClr val="FFFFFF"/>
                </a:solidFill>
              </a:endParaRPr>
            </a:p>
            <a:p>
              <a:pPr marL="609600" lvl="0" indent="-3746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Char char="●"/>
              </a:pPr>
              <a:r>
                <a:rPr lang="en-US" sz="1100">
                  <a:solidFill>
                    <a:srgbClr val="FFFFFF"/>
                  </a:solidFill>
                </a:rPr>
                <a:t>Model complexity adds governance and validation overhead </a:t>
              </a:r>
              <a:endParaRPr sz="110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>
            <a:spLocks noGrp="1"/>
          </p:cNvSpPr>
          <p:nvPr>
            <p:ph type="title"/>
          </p:nvPr>
        </p:nvSpPr>
        <p:spPr>
          <a:xfrm>
            <a:off x="4532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3200"/>
              <a:buFont typeface="Play"/>
              <a:buNone/>
            </a:pPr>
            <a:r>
              <a:rPr lang="en-US" b="1"/>
              <a:t>Models Trained &amp; Selected</a:t>
            </a:r>
            <a:endParaRPr b="1"/>
          </a:p>
        </p:txBody>
      </p:sp>
      <p:sp>
        <p:nvSpPr>
          <p:cNvPr id="200" name="Google Shape;200;p22"/>
          <p:cNvSpPr txBox="1">
            <a:spLocks noGrp="1"/>
          </p:cNvSpPr>
          <p:nvPr>
            <p:ph type="body" idx="1"/>
          </p:nvPr>
        </p:nvSpPr>
        <p:spPr>
          <a:xfrm>
            <a:off x="997225" y="2144950"/>
            <a:ext cx="44745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57200" lvl="0" indent="-299466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59999"/>
              <a:buChar char="▪"/>
            </a:pPr>
            <a:r>
              <a:rPr lang="en-US" dirty="0"/>
              <a:t>Logistic Regression</a:t>
            </a:r>
            <a:endParaRPr dirty="0"/>
          </a:p>
          <a:p>
            <a:pPr marL="457200" lvl="0" indent="-29946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9999"/>
              <a:buChar char="▪"/>
            </a:pPr>
            <a:r>
              <a:rPr lang="en-US" dirty="0"/>
              <a:t>Random Forest</a:t>
            </a:r>
            <a:endParaRPr dirty="0"/>
          </a:p>
          <a:p>
            <a:pPr marL="457200" lvl="0" indent="-29946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9999"/>
              <a:buChar char="▪"/>
            </a:pPr>
            <a:r>
              <a:rPr lang="en-US" dirty="0"/>
              <a:t>XG BOOST</a:t>
            </a:r>
            <a:endParaRPr dirty="0"/>
          </a:p>
          <a:p>
            <a:pPr marL="457200" lvl="0" indent="-29946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9999"/>
              <a:buChar char="▪"/>
            </a:pPr>
            <a:r>
              <a:rPr lang="en-US" dirty="0"/>
              <a:t>Decision Tree</a:t>
            </a:r>
            <a:endParaRPr dirty="0"/>
          </a:p>
          <a:p>
            <a:pPr marL="457200" lvl="0" indent="-29946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9999"/>
              <a:buChar char="▪"/>
            </a:pPr>
            <a:r>
              <a:rPr lang="en-US"/>
              <a:t>Falling Rule List</a:t>
            </a:r>
            <a:endParaRPr dirty="0"/>
          </a:p>
        </p:txBody>
      </p:sp>
      <p:sp>
        <p:nvSpPr>
          <p:cNvPr id="201" name="Google Shape;201;p22"/>
          <p:cNvSpPr txBox="1">
            <a:spLocks noGrp="1"/>
          </p:cNvSpPr>
          <p:nvPr>
            <p:ph type="sldNum" idx="12"/>
          </p:nvPr>
        </p:nvSpPr>
        <p:spPr>
          <a:xfrm>
            <a:off x="9448800" y="647462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02" name="Google Shape;202;p22"/>
          <p:cNvSpPr txBox="1">
            <a:spLocks noGrp="1"/>
          </p:cNvSpPr>
          <p:nvPr>
            <p:ph type="body" idx="1"/>
          </p:nvPr>
        </p:nvSpPr>
        <p:spPr>
          <a:xfrm>
            <a:off x="1101000" y="4145225"/>
            <a:ext cx="4474500" cy="16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50" b="1" dirty="0"/>
              <a:t>Model Chosen: </a:t>
            </a:r>
            <a:r>
              <a:rPr lang="en-US" sz="1850" b="1" dirty="0">
                <a:highlight>
                  <a:srgbClr val="00FF00"/>
                </a:highlight>
              </a:rPr>
              <a:t>RANDOM FOREST</a:t>
            </a:r>
            <a:endParaRPr sz="1850" b="1" dirty="0">
              <a:highlight>
                <a:srgbClr val="00FF00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50" dirty="0"/>
              <a:t>→ Highest Savings</a:t>
            </a:r>
            <a:endParaRPr sz="1850"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50" dirty="0"/>
              <a:t>→ Highest Relative Precision</a:t>
            </a:r>
          </a:p>
        </p:txBody>
      </p:sp>
      <p:sp>
        <p:nvSpPr>
          <p:cNvPr id="203" name="Google Shape;203;p22"/>
          <p:cNvSpPr txBox="1">
            <a:spLocks noGrp="1"/>
          </p:cNvSpPr>
          <p:nvPr>
            <p:ph type="body" idx="1"/>
          </p:nvPr>
        </p:nvSpPr>
        <p:spPr>
          <a:xfrm>
            <a:off x="997225" y="1609400"/>
            <a:ext cx="3871500" cy="5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/>
              <a:t>Models Trained:</a:t>
            </a:r>
            <a:endParaRPr b="1"/>
          </a:p>
        </p:txBody>
      </p:sp>
      <p:pic>
        <p:nvPicPr>
          <p:cNvPr id="204" name="Google Shape;20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6150" y="1609400"/>
            <a:ext cx="6477000" cy="458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"/>
          <p:cNvSpPr txBox="1">
            <a:spLocks noGrp="1"/>
          </p:cNvSpPr>
          <p:nvPr>
            <p:ph type="title"/>
          </p:nvPr>
        </p:nvSpPr>
        <p:spPr>
          <a:xfrm>
            <a:off x="453275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3200"/>
              <a:buFont typeface="Play"/>
              <a:buNone/>
            </a:pPr>
            <a:r>
              <a:rPr lang="en-US" b="1"/>
              <a:t>Model Selection: Hyperparameter Tuning</a:t>
            </a:r>
            <a:endParaRPr b="1"/>
          </a:p>
        </p:txBody>
      </p:sp>
      <p:sp>
        <p:nvSpPr>
          <p:cNvPr id="210" name="Google Shape;210;p23"/>
          <p:cNvSpPr txBox="1">
            <a:spLocks noGrp="1"/>
          </p:cNvSpPr>
          <p:nvPr>
            <p:ph type="sldNum" idx="12"/>
          </p:nvPr>
        </p:nvSpPr>
        <p:spPr>
          <a:xfrm>
            <a:off x="9448800" y="64746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graphicFrame>
        <p:nvGraphicFramePr>
          <p:cNvPr id="211" name="Google Shape;211;p23"/>
          <p:cNvGraphicFramePr/>
          <p:nvPr/>
        </p:nvGraphicFramePr>
        <p:xfrm>
          <a:off x="2454025" y="2032275"/>
          <a:ext cx="3010050" cy="3306350"/>
        </p:xfrm>
        <a:graphic>
          <a:graphicData uri="http://schemas.openxmlformats.org/drawingml/2006/table">
            <a:tbl>
              <a:tblPr>
                <a:noFill/>
                <a:tableStyleId>{D8E57C39-44E9-4626-BC0E-627800A6D19A}</a:tableStyleId>
              </a:tblPr>
              <a:tblGrid>
                <a:gridCol w="150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5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0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Model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Average AUC</a:t>
                      </a:r>
                      <a:endParaRPr sz="18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/>
                        <a:t>Logistic Regression</a:t>
                      </a:r>
                      <a:endParaRPr sz="15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0.7979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/>
                        <a:t>Random Forest</a:t>
                      </a:r>
                      <a:endParaRPr sz="15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0.7951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/>
                        <a:t>XG Boost</a:t>
                      </a:r>
                      <a:endParaRPr sz="15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0.7778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/>
                        <a:t>Decision Tree</a:t>
                      </a:r>
                      <a:endParaRPr sz="15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0.6854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2" name="Google Shape;212;p23"/>
          <p:cNvGraphicFramePr/>
          <p:nvPr/>
        </p:nvGraphicFramePr>
        <p:xfrm>
          <a:off x="6358450" y="2025225"/>
          <a:ext cx="3010100" cy="3313400"/>
        </p:xfrm>
        <a:graphic>
          <a:graphicData uri="http://schemas.openxmlformats.org/drawingml/2006/table">
            <a:tbl>
              <a:tblPr>
                <a:noFill/>
                <a:tableStyleId>{D8E57C39-44E9-4626-BC0E-627800A6D19A}</a:tableStyleId>
              </a:tblPr>
              <a:tblGrid>
                <a:gridCol w="150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0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Model</a:t>
                      </a:r>
                      <a:endParaRPr sz="1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Optimal Model AUC</a:t>
                      </a:r>
                      <a:endParaRPr sz="1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/>
                        <a:t>Logistic Regression</a:t>
                      </a:r>
                      <a:endParaRPr sz="15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0.7981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/>
                        <a:t>Random Forest</a:t>
                      </a:r>
                      <a:endParaRPr sz="15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0.7976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/>
                        <a:t>Falling Rule List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0.7822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3" name="Google Shape;213;p23"/>
          <p:cNvSpPr txBox="1">
            <a:spLocks noGrp="1"/>
          </p:cNvSpPr>
          <p:nvPr>
            <p:ph type="body" idx="1"/>
          </p:nvPr>
        </p:nvSpPr>
        <p:spPr>
          <a:xfrm>
            <a:off x="2168050" y="1325575"/>
            <a:ext cx="3582000" cy="5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1"/>
              <a:t>Round 1: Narrow Down</a:t>
            </a:r>
            <a:endParaRPr sz="1600" b="1"/>
          </a:p>
        </p:txBody>
      </p:sp>
      <p:sp>
        <p:nvSpPr>
          <p:cNvPr id="214" name="Google Shape;214;p23"/>
          <p:cNvSpPr txBox="1">
            <a:spLocks noGrp="1"/>
          </p:cNvSpPr>
          <p:nvPr>
            <p:ph type="body" idx="1"/>
          </p:nvPr>
        </p:nvSpPr>
        <p:spPr>
          <a:xfrm>
            <a:off x="6072500" y="1325575"/>
            <a:ext cx="3582000" cy="5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1"/>
              <a:t>Round 2: Hyperparameter Search</a:t>
            </a:r>
            <a:endParaRPr sz="16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"/>
          <p:cNvSpPr txBox="1">
            <a:spLocks noGrp="1"/>
          </p:cNvSpPr>
          <p:nvPr>
            <p:ph type="title"/>
          </p:nvPr>
        </p:nvSpPr>
        <p:spPr>
          <a:xfrm>
            <a:off x="4532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3200"/>
              <a:buFont typeface="Play"/>
              <a:buNone/>
            </a:pPr>
            <a:r>
              <a:rPr lang="en-US" b="1"/>
              <a:t>Model Selection: Threshold Tuning</a:t>
            </a:r>
            <a:endParaRPr b="1"/>
          </a:p>
        </p:txBody>
      </p:sp>
      <p:sp>
        <p:nvSpPr>
          <p:cNvPr id="220" name="Google Shape;220;p24"/>
          <p:cNvSpPr txBox="1">
            <a:spLocks noGrp="1"/>
          </p:cNvSpPr>
          <p:nvPr>
            <p:ph type="sldNum" idx="12"/>
          </p:nvPr>
        </p:nvSpPr>
        <p:spPr>
          <a:xfrm>
            <a:off x="9448800" y="647462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graphicFrame>
        <p:nvGraphicFramePr>
          <p:cNvPr id="221" name="Google Shape;221;p24"/>
          <p:cNvGraphicFramePr/>
          <p:nvPr/>
        </p:nvGraphicFramePr>
        <p:xfrm>
          <a:off x="898100" y="1409850"/>
          <a:ext cx="3010050" cy="2659250"/>
        </p:xfrm>
        <a:graphic>
          <a:graphicData uri="http://schemas.openxmlformats.org/drawingml/2006/table">
            <a:tbl>
              <a:tblPr>
                <a:noFill/>
                <a:tableStyleId>{D8E57C39-44E9-4626-BC0E-627800A6D19A}</a:tableStyleId>
              </a:tblPr>
              <a:tblGrid>
                <a:gridCol w="144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0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/>
                        <a:t>Logistic Regression</a:t>
                      </a:r>
                      <a:endParaRPr sz="17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F(0.72)</a:t>
                      </a: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/>
                        <a:t>Precision</a:t>
                      </a:r>
                      <a:endParaRPr sz="10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0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/>
                        <a:t>0.45</a:t>
                      </a:r>
                      <a:endParaRPr sz="15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0.7404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0.7115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0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/>
                        <a:t>0.50</a:t>
                      </a:r>
                      <a:endParaRPr sz="15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0.7395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0.7328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0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/>
                        <a:t>0.55</a:t>
                      </a:r>
                      <a:endParaRPr sz="15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0.7370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0.7526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22" name="Google Shape;222;p24"/>
          <p:cNvGraphicFramePr/>
          <p:nvPr/>
        </p:nvGraphicFramePr>
        <p:xfrm>
          <a:off x="4206050" y="1409850"/>
          <a:ext cx="3010050" cy="2659250"/>
        </p:xfrm>
        <a:graphic>
          <a:graphicData uri="http://schemas.openxmlformats.org/drawingml/2006/table">
            <a:tbl>
              <a:tblPr>
                <a:noFill/>
                <a:tableStyleId>{D8E57C39-44E9-4626-BC0E-627800A6D19A}</a:tableStyleId>
              </a:tblPr>
              <a:tblGrid>
                <a:gridCol w="144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0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/>
                        <a:t>Random Forest</a:t>
                      </a:r>
                      <a:endParaRPr sz="17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F(0.72)</a:t>
                      </a: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/>
                        <a:t>Precision</a:t>
                      </a:r>
                      <a:endParaRPr sz="10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0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/>
                        <a:t>0.45</a:t>
                      </a:r>
                      <a:endParaRPr sz="15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0.7330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0.6997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0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/>
                        <a:t>0.50</a:t>
                      </a:r>
                      <a:endParaRPr sz="15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0.7391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0.7230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0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/>
                        <a:t>0.55</a:t>
                      </a:r>
                      <a:endParaRPr sz="15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0.7423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0.7517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23" name="Google Shape;223;p24"/>
          <p:cNvGraphicFramePr/>
          <p:nvPr/>
        </p:nvGraphicFramePr>
        <p:xfrm>
          <a:off x="7514000" y="1409850"/>
          <a:ext cx="3010050" cy="2659250"/>
        </p:xfrm>
        <a:graphic>
          <a:graphicData uri="http://schemas.openxmlformats.org/drawingml/2006/table">
            <a:tbl>
              <a:tblPr>
                <a:noFill/>
                <a:tableStyleId>{D8E57C39-44E9-4626-BC0E-627800A6D19A}</a:tableStyleId>
              </a:tblPr>
              <a:tblGrid>
                <a:gridCol w="144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0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/>
                        <a:t>Falling Rule List</a:t>
                      </a:r>
                      <a:endParaRPr sz="17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F(0.72)</a:t>
                      </a: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/>
                        <a:t>Precision</a:t>
                      </a:r>
                      <a:endParaRPr sz="10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0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/>
                        <a:t>0.45</a:t>
                      </a:r>
                      <a:endParaRPr sz="15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0.7248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0.6769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0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/>
                        <a:t>0.50</a:t>
                      </a:r>
                      <a:endParaRPr sz="15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0.7236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0.7200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0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/>
                        <a:t>0.55</a:t>
                      </a:r>
                      <a:endParaRPr sz="15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0.7167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0.7427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4" name="Google Shape;224;p24"/>
          <p:cNvSpPr txBox="1"/>
          <p:nvPr/>
        </p:nvSpPr>
        <p:spPr>
          <a:xfrm>
            <a:off x="636725" y="4198950"/>
            <a:ext cx="10148700" cy="11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</a:rPr>
              <a:t>IS FRL INTERPRETABILITY WORTH THE LOWER PERFORMANCE?</a:t>
            </a:r>
            <a:endParaRPr sz="24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</a:rPr>
              <a:t>NO.  </a:t>
            </a:r>
            <a:endParaRPr sz="2400" b="1">
              <a:solidFill>
                <a:schemeClr val="dk1"/>
              </a:solidFill>
            </a:endParaRPr>
          </a:p>
        </p:txBody>
      </p:sp>
      <p:sp>
        <p:nvSpPr>
          <p:cNvPr id="225" name="Google Shape;225;p24"/>
          <p:cNvSpPr txBox="1">
            <a:spLocks noGrp="1"/>
          </p:cNvSpPr>
          <p:nvPr>
            <p:ph type="body" idx="1"/>
          </p:nvPr>
        </p:nvSpPr>
        <p:spPr>
          <a:xfrm>
            <a:off x="3473825" y="5003300"/>
            <a:ext cx="4474500" cy="9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>
              <a:lnSpc>
                <a:spcPct val="115000"/>
              </a:lnSpc>
            </a:pPr>
            <a:r>
              <a:rPr lang="en-US"/>
              <a:t>FRL Scalability</a:t>
            </a:r>
          </a:p>
          <a:p>
            <a:pPr marL="457200" lvl="0" indent="-32004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40"/>
              <a:buChar char="▪"/>
            </a:pPr>
            <a:r>
              <a:rPr lang="en-US" dirty="0"/>
              <a:t>SHAP Interpretability</a:t>
            </a:r>
            <a:endParaRPr dirty="0"/>
          </a:p>
        </p:txBody>
      </p:sp>
      <p:sp>
        <p:nvSpPr>
          <p:cNvPr id="226" name="Google Shape;226;p24"/>
          <p:cNvSpPr/>
          <p:nvPr/>
        </p:nvSpPr>
        <p:spPr>
          <a:xfrm>
            <a:off x="4130576" y="1330525"/>
            <a:ext cx="6471000" cy="2817900"/>
          </a:xfrm>
          <a:prstGeom prst="rect">
            <a:avLst/>
          </a:prstGeom>
          <a:noFill/>
          <a:ln w="1143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"/>
          <p:cNvSpPr txBox="1">
            <a:spLocks noGrp="1"/>
          </p:cNvSpPr>
          <p:nvPr>
            <p:ph type="title"/>
          </p:nvPr>
        </p:nvSpPr>
        <p:spPr>
          <a:xfrm>
            <a:off x="453275" y="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Prediction Explanation Using SHAP</a:t>
            </a:r>
            <a:endParaRPr b="1"/>
          </a:p>
        </p:txBody>
      </p:sp>
      <p:sp>
        <p:nvSpPr>
          <p:cNvPr id="241" name="Google Shape;241;p26"/>
          <p:cNvSpPr txBox="1">
            <a:spLocks noGrp="1"/>
          </p:cNvSpPr>
          <p:nvPr>
            <p:ph type="sldNum" idx="12"/>
          </p:nvPr>
        </p:nvSpPr>
        <p:spPr>
          <a:xfrm>
            <a:off x="9448800" y="647462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EA68DA-08DD-408D-22E8-2A4B26C17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2424" y="1242299"/>
            <a:ext cx="6927152" cy="5503764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657BB6B9-2DD1-F38B-D8C1-09906F77B380}"/>
              </a:ext>
            </a:extLst>
          </p:cNvPr>
          <p:cNvSpPr/>
          <p:nvPr/>
        </p:nvSpPr>
        <p:spPr>
          <a:xfrm>
            <a:off x="9028253" y="1724628"/>
            <a:ext cx="659757" cy="5208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E772F63-AA40-B5A1-7564-2823EA5DAE8C}"/>
              </a:ext>
            </a:extLst>
          </p:cNvPr>
          <p:cNvSpPr/>
          <p:nvPr/>
        </p:nvSpPr>
        <p:spPr>
          <a:xfrm>
            <a:off x="5381196" y="4342435"/>
            <a:ext cx="659757" cy="5208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BAD346-277F-05B8-59FB-8A1A8A493393}"/>
              </a:ext>
            </a:extLst>
          </p:cNvPr>
          <p:cNvSpPr txBox="1"/>
          <p:nvPr/>
        </p:nvSpPr>
        <p:spPr>
          <a:xfrm>
            <a:off x="2722537" y="1412112"/>
            <a:ext cx="2125883" cy="3125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Features and user input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7"/>
          <p:cNvSpPr txBox="1">
            <a:spLocks noGrp="1"/>
          </p:cNvSpPr>
          <p:nvPr>
            <p:ph type="title"/>
          </p:nvPr>
        </p:nvSpPr>
        <p:spPr>
          <a:xfrm>
            <a:off x="467775" y="168375"/>
            <a:ext cx="10515600" cy="86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3200"/>
              <a:buFont typeface="Play"/>
              <a:buNone/>
            </a:pPr>
            <a:r>
              <a:rPr lang="en-US" b="1" u="sng" dirty="0">
                <a:solidFill>
                  <a:srgbClr val="001E5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</a:t>
            </a:r>
            <a:endParaRPr sz="7050" b="1" dirty="0">
              <a:solidFill>
                <a:srgbClr val="001E5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7"/>
          <p:cNvSpPr txBox="1">
            <a:spLocks noGrp="1"/>
          </p:cNvSpPr>
          <p:nvPr>
            <p:ph type="sldNum" idx="12"/>
          </p:nvPr>
        </p:nvSpPr>
        <p:spPr>
          <a:xfrm>
            <a:off x="9448800" y="647462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50" name="Google Shape;250;p27" title="Screenshot 2026-02-23 at 8.50.0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4625" y="1188950"/>
            <a:ext cx="8751391" cy="5516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>
            <a:spLocks noGrp="1"/>
          </p:cNvSpPr>
          <p:nvPr>
            <p:ph type="title"/>
          </p:nvPr>
        </p:nvSpPr>
        <p:spPr>
          <a:xfrm>
            <a:off x="453275" y="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Future Considerations &amp; Monitoring</a:t>
            </a:r>
            <a:endParaRPr b="1"/>
          </a:p>
        </p:txBody>
      </p:sp>
      <p:sp>
        <p:nvSpPr>
          <p:cNvPr id="257" name="Google Shape;257;p28"/>
          <p:cNvSpPr txBox="1">
            <a:spLocks noGrp="1"/>
          </p:cNvSpPr>
          <p:nvPr>
            <p:ph type="sldNum" idx="12"/>
          </p:nvPr>
        </p:nvSpPr>
        <p:spPr>
          <a:xfrm>
            <a:off x="9448800" y="647462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grpSp>
        <p:nvGrpSpPr>
          <p:cNvPr id="258" name="Google Shape;258;p28"/>
          <p:cNvGrpSpPr/>
          <p:nvPr/>
        </p:nvGrpSpPr>
        <p:grpSpPr>
          <a:xfrm>
            <a:off x="2189998" y="1691386"/>
            <a:ext cx="2674269" cy="2366356"/>
            <a:chOff x="571536" y="1957150"/>
            <a:chExt cx="1755000" cy="1552931"/>
          </a:xfrm>
        </p:grpSpPr>
        <p:sp>
          <p:nvSpPr>
            <p:cNvPr id="259" name="Google Shape;259;p28"/>
            <p:cNvSpPr/>
            <p:nvPr/>
          </p:nvSpPr>
          <p:spPr>
            <a:xfrm>
              <a:off x="1151886" y="1957150"/>
              <a:ext cx="594300" cy="594300"/>
            </a:xfrm>
            <a:prstGeom prst="ellipse">
              <a:avLst/>
            </a:prstGeom>
            <a:noFill/>
            <a:ln w="58050" cap="flat" cmpd="sng">
              <a:solidFill>
                <a:srgbClr val="001E5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9325" tIns="139325" rIns="139325" bIns="1393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1E5F"/>
                </a:solidFill>
              </a:endParaRPr>
            </a:p>
          </p:txBody>
        </p:sp>
        <p:sp>
          <p:nvSpPr>
            <p:cNvPr id="260" name="Google Shape;260;p28"/>
            <p:cNvSpPr txBox="1"/>
            <p:nvPr/>
          </p:nvSpPr>
          <p:spPr>
            <a:xfrm>
              <a:off x="1230636" y="21183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9325" tIns="139325" rIns="139325" bIns="1393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2400"/>
                </a:spcAft>
                <a:buNone/>
              </a:pPr>
              <a:r>
                <a:rPr lang="en-US" sz="1257" b="1">
                  <a:solidFill>
                    <a:srgbClr val="001E5F"/>
                  </a:solidFill>
                  <a:latin typeface="Roboto"/>
                  <a:ea typeface="Roboto"/>
                  <a:cs typeface="Roboto"/>
                  <a:sym typeface="Roboto"/>
                </a:rPr>
                <a:t>1.</a:t>
              </a:r>
              <a:endParaRPr sz="1257" b="1">
                <a:solidFill>
                  <a:srgbClr val="001E5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1" name="Google Shape;261;p28"/>
            <p:cNvSpPr txBox="1"/>
            <p:nvPr/>
          </p:nvSpPr>
          <p:spPr>
            <a:xfrm>
              <a:off x="571536" y="2772681"/>
              <a:ext cx="17550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9325" tIns="139325" rIns="139325" bIns="1393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7">
                  <a:solidFill>
                    <a:srgbClr val="001E5F"/>
                  </a:solidFill>
                  <a:latin typeface="Roboto"/>
                  <a:ea typeface="Roboto"/>
                  <a:cs typeface="Roboto"/>
                  <a:sym typeface="Roboto"/>
                </a:rPr>
                <a:t>Model performance may decline due to economic shifts and changes in borrower behavior</a:t>
              </a:r>
              <a:endParaRPr sz="1257">
                <a:solidFill>
                  <a:srgbClr val="001E5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2400"/>
                </a:spcBef>
                <a:spcAft>
                  <a:spcPts val="2400"/>
                </a:spcAft>
                <a:buNone/>
              </a:pPr>
              <a:endParaRPr sz="1257">
                <a:solidFill>
                  <a:srgbClr val="001E5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2" name="Google Shape;262;p28"/>
          <p:cNvGrpSpPr/>
          <p:nvPr/>
        </p:nvGrpSpPr>
        <p:grpSpPr>
          <a:xfrm>
            <a:off x="6584197" y="1654024"/>
            <a:ext cx="2604327" cy="2441072"/>
            <a:chOff x="2699423" y="1957150"/>
            <a:chExt cx="1709100" cy="1601964"/>
          </a:xfrm>
        </p:grpSpPr>
        <p:sp>
          <p:nvSpPr>
            <p:cNvPr id="263" name="Google Shape;263;p28"/>
            <p:cNvSpPr/>
            <p:nvPr/>
          </p:nvSpPr>
          <p:spPr>
            <a:xfrm>
              <a:off x="3256823" y="1957150"/>
              <a:ext cx="594300" cy="594300"/>
            </a:xfrm>
            <a:prstGeom prst="ellipse">
              <a:avLst/>
            </a:prstGeom>
            <a:noFill/>
            <a:ln w="58050" cap="flat" cmpd="sng">
              <a:solidFill>
                <a:srgbClr val="001E5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9325" tIns="139325" rIns="139325" bIns="1393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D82D"/>
                </a:solidFill>
              </a:endParaRPr>
            </a:p>
          </p:txBody>
        </p:sp>
        <p:sp>
          <p:nvSpPr>
            <p:cNvPr id="264" name="Google Shape;264;p28"/>
            <p:cNvSpPr txBox="1"/>
            <p:nvPr/>
          </p:nvSpPr>
          <p:spPr>
            <a:xfrm>
              <a:off x="2699423" y="2821714"/>
              <a:ext cx="17091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9325" tIns="139325" rIns="139325" bIns="1393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7">
                  <a:solidFill>
                    <a:srgbClr val="001E5F"/>
                  </a:solidFill>
                  <a:latin typeface="Roboto"/>
                  <a:ea typeface="Roboto"/>
                  <a:cs typeface="Roboto"/>
                  <a:sym typeface="Roboto"/>
                </a:rPr>
                <a:t>We will monitor approval rate, default rate, and probability drift on a monthly basis</a:t>
              </a:r>
              <a:endParaRPr sz="1257">
                <a:solidFill>
                  <a:srgbClr val="001E5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2400"/>
                </a:spcBef>
                <a:spcAft>
                  <a:spcPts val="2400"/>
                </a:spcAft>
                <a:buNone/>
              </a:pPr>
              <a:endParaRPr sz="1257">
                <a:solidFill>
                  <a:srgbClr val="FFD82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5" name="Google Shape;265;p28"/>
            <p:cNvSpPr txBox="1"/>
            <p:nvPr/>
          </p:nvSpPr>
          <p:spPr>
            <a:xfrm>
              <a:off x="3335573" y="21183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9325" tIns="139325" rIns="139325" bIns="1393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2400"/>
                </a:spcAft>
                <a:buNone/>
              </a:pPr>
              <a:r>
                <a:rPr lang="en-US" sz="1257" b="1">
                  <a:solidFill>
                    <a:srgbClr val="001E5F"/>
                  </a:solidFill>
                  <a:latin typeface="Roboto"/>
                  <a:ea typeface="Roboto"/>
                  <a:cs typeface="Roboto"/>
                  <a:sym typeface="Roboto"/>
                </a:rPr>
                <a:t>2.</a:t>
              </a:r>
              <a:endParaRPr sz="1257" b="1">
                <a:solidFill>
                  <a:srgbClr val="001E5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6" name="Google Shape;266;p28"/>
          <p:cNvGrpSpPr/>
          <p:nvPr/>
        </p:nvGrpSpPr>
        <p:grpSpPr>
          <a:xfrm>
            <a:off x="2224975" y="4255088"/>
            <a:ext cx="2604327" cy="2441069"/>
            <a:chOff x="4781398" y="1957150"/>
            <a:chExt cx="1709100" cy="1601961"/>
          </a:xfrm>
        </p:grpSpPr>
        <p:sp>
          <p:nvSpPr>
            <p:cNvPr id="267" name="Google Shape;267;p28"/>
            <p:cNvSpPr/>
            <p:nvPr/>
          </p:nvSpPr>
          <p:spPr>
            <a:xfrm>
              <a:off x="5338808" y="1957150"/>
              <a:ext cx="594300" cy="594300"/>
            </a:xfrm>
            <a:prstGeom prst="ellipse">
              <a:avLst/>
            </a:prstGeom>
            <a:noFill/>
            <a:ln w="58050" cap="flat" cmpd="sng">
              <a:solidFill>
                <a:srgbClr val="001E5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9325" tIns="139325" rIns="139325" bIns="1393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1E5F"/>
                </a:solidFill>
              </a:endParaRPr>
            </a:p>
          </p:txBody>
        </p:sp>
        <p:sp>
          <p:nvSpPr>
            <p:cNvPr id="268" name="Google Shape;268;p28"/>
            <p:cNvSpPr txBox="1"/>
            <p:nvPr/>
          </p:nvSpPr>
          <p:spPr>
            <a:xfrm>
              <a:off x="4781398" y="2821711"/>
              <a:ext cx="17091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9325" tIns="139325" rIns="139325" bIns="1393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7">
                  <a:solidFill>
                    <a:srgbClr val="001E5F"/>
                  </a:solidFill>
                  <a:latin typeface="Roboto"/>
                  <a:ea typeface="Roboto"/>
                  <a:cs typeface="Roboto"/>
                  <a:sym typeface="Roboto"/>
                </a:rPr>
                <a:t>Retrain the model periodically using recent data to prevent concept drift</a:t>
              </a:r>
              <a:endParaRPr sz="1257">
                <a:solidFill>
                  <a:srgbClr val="001E5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2400"/>
                </a:spcBef>
                <a:spcAft>
                  <a:spcPts val="2400"/>
                </a:spcAft>
                <a:buNone/>
              </a:pPr>
              <a:endParaRPr sz="1257">
                <a:solidFill>
                  <a:srgbClr val="001E5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9" name="Google Shape;269;p28"/>
            <p:cNvSpPr txBox="1"/>
            <p:nvPr/>
          </p:nvSpPr>
          <p:spPr>
            <a:xfrm>
              <a:off x="5417558" y="21183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9325" tIns="139325" rIns="139325" bIns="1393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2400"/>
                </a:spcAft>
                <a:buNone/>
              </a:pPr>
              <a:r>
                <a:rPr lang="en-US" sz="1257" b="1">
                  <a:solidFill>
                    <a:srgbClr val="001E5F"/>
                  </a:solidFill>
                  <a:latin typeface="Roboto"/>
                  <a:ea typeface="Roboto"/>
                  <a:cs typeface="Roboto"/>
                  <a:sym typeface="Roboto"/>
                </a:rPr>
                <a:t>3.</a:t>
              </a:r>
              <a:endParaRPr sz="1257" b="1">
                <a:solidFill>
                  <a:srgbClr val="001E5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0" name="Google Shape;270;p28"/>
          <p:cNvGrpSpPr/>
          <p:nvPr/>
        </p:nvGrpSpPr>
        <p:grpSpPr>
          <a:xfrm>
            <a:off x="6627819" y="4255088"/>
            <a:ext cx="2604327" cy="2441072"/>
            <a:chOff x="6863386" y="1957150"/>
            <a:chExt cx="1709100" cy="1601964"/>
          </a:xfrm>
        </p:grpSpPr>
        <p:sp>
          <p:nvSpPr>
            <p:cNvPr id="271" name="Google Shape;271;p28"/>
            <p:cNvSpPr/>
            <p:nvPr/>
          </p:nvSpPr>
          <p:spPr>
            <a:xfrm>
              <a:off x="7420786" y="1957150"/>
              <a:ext cx="594300" cy="594300"/>
            </a:xfrm>
            <a:prstGeom prst="ellipse">
              <a:avLst/>
            </a:prstGeom>
            <a:noFill/>
            <a:ln w="58050" cap="flat" cmpd="sng">
              <a:solidFill>
                <a:srgbClr val="001E5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9325" tIns="139325" rIns="139325" bIns="1393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D82D"/>
                </a:solidFill>
              </a:endParaRPr>
            </a:p>
          </p:txBody>
        </p:sp>
        <p:sp>
          <p:nvSpPr>
            <p:cNvPr id="272" name="Google Shape;272;p28"/>
            <p:cNvSpPr txBox="1"/>
            <p:nvPr/>
          </p:nvSpPr>
          <p:spPr>
            <a:xfrm>
              <a:off x="6863386" y="2821714"/>
              <a:ext cx="17091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9325" tIns="139325" rIns="139325" bIns="1393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7">
                  <a:solidFill>
                    <a:srgbClr val="001E5F"/>
                  </a:solidFill>
                  <a:latin typeface="Roboto"/>
                  <a:ea typeface="Roboto"/>
                  <a:cs typeface="Roboto"/>
                  <a:sym typeface="Roboto"/>
                </a:rPr>
                <a:t>Maintain human review and threshold control to ensure regulatory and risk compliance</a:t>
              </a:r>
              <a:endParaRPr sz="1257">
                <a:solidFill>
                  <a:srgbClr val="001E5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2400"/>
                </a:spcBef>
                <a:spcAft>
                  <a:spcPts val="2400"/>
                </a:spcAft>
                <a:buNone/>
              </a:pPr>
              <a:endParaRPr sz="1257">
                <a:solidFill>
                  <a:srgbClr val="FFD82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3" name="Google Shape;273;p28"/>
            <p:cNvSpPr txBox="1"/>
            <p:nvPr/>
          </p:nvSpPr>
          <p:spPr>
            <a:xfrm>
              <a:off x="7499536" y="21183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9325" tIns="139325" rIns="139325" bIns="1393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2400"/>
                </a:spcAft>
                <a:buNone/>
              </a:pPr>
              <a:r>
                <a:rPr lang="en-US" sz="1257" b="1">
                  <a:solidFill>
                    <a:srgbClr val="001E5F"/>
                  </a:solidFill>
                  <a:latin typeface="Roboto"/>
                  <a:ea typeface="Roboto"/>
                  <a:cs typeface="Roboto"/>
                  <a:sym typeface="Roboto"/>
                </a:rPr>
                <a:t>4.</a:t>
              </a:r>
              <a:endParaRPr sz="1257" b="1">
                <a:solidFill>
                  <a:srgbClr val="001E5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9" descr="University of Rochester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4752" y="720207"/>
            <a:ext cx="3029503" cy="712237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9"/>
          <p:cNvSpPr txBox="1">
            <a:spLocks noGrp="1"/>
          </p:cNvSpPr>
          <p:nvPr>
            <p:ph type="ctrTitle"/>
          </p:nvPr>
        </p:nvSpPr>
        <p:spPr>
          <a:xfrm>
            <a:off x="814752" y="1923600"/>
            <a:ext cx="65709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en-US" b="1"/>
              <a:t>LOAN DECISION SYSTEM</a:t>
            </a:r>
            <a:endParaRPr b="1"/>
          </a:p>
        </p:txBody>
      </p:sp>
      <p:sp>
        <p:nvSpPr>
          <p:cNvPr id="280" name="Google Shape;280;p29"/>
          <p:cNvSpPr txBox="1">
            <a:spLocks noGrp="1"/>
          </p:cNvSpPr>
          <p:nvPr>
            <p:ph type="subTitle" idx="1"/>
          </p:nvPr>
        </p:nvSpPr>
        <p:spPr>
          <a:xfrm>
            <a:off x="814752" y="4403275"/>
            <a:ext cx="65709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 b="1"/>
              <a:t>Q &amp; A</a:t>
            </a:r>
            <a:endParaRPr b="1"/>
          </a:p>
        </p:txBody>
      </p:sp>
      <p:sp>
        <p:nvSpPr>
          <p:cNvPr id="281" name="Google Shape;281;p29"/>
          <p:cNvSpPr txBox="1">
            <a:spLocks noGrp="1"/>
          </p:cNvSpPr>
          <p:nvPr>
            <p:ph type="sldNum" idx="12"/>
          </p:nvPr>
        </p:nvSpPr>
        <p:spPr>
          <a:xfrm>
            <a:off x="9448800" y="647462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5"/>
          <p:cNvSpPr txBox="1">
            <a:spLocks noGrp="1"/>
          </p:cNvSpPr>
          <p:nvPr>
            <p:ph type="title"/>
          </p:nvPr>
        </p:nvSpPr>
        <p:spPr>
          <a:xfrm>
            <a:off x="453275" y="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Appendix: Final Falling Rule List Table</a:t>
            </a:r>
            <a:endParaRPr b="1" dirty="0"/>
          </a:p>
        </p:txBody>
      </p:sp>
      <p:sp>
        <p:nvSpPr>
          <p:cNvPr id="233" name="Google Shape;233;p25"/>
          <p:cNvSpPr txBox="1">
            <a:spLocks noGrp="1"/>
          </p:cNvSpPr>
          <p:nvPr>
            <p:ph type="sldNum" idx="12"/>
          </p:nvPr>
        </p:nvSpPr>
        <p:spPr>
          <a:xfrm>
            <a:off x="9448800" y="647462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34" name="Google Shape;2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8525" y="1325700"/>
            <a:ext cx="7018741" cy="522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F50F7D-C417-4D15-4337-AD864131CE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6" name="Google Shape;232;p25">
            <a:extLst>
              <a:ext uri="{FF2B5EF4-FFF2-40B4-BE49-F238E27FC236}">
                <a16:creationId xmlns:a16="http://schemas.microsoft.com/office/drawing/2014/main" id="{8428DC2B-4827-E0E0-3C86-A7B62B85D3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3275" y="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Appendix: Optimal Hyperparameters</a:t>
            </a:r>
            <a:endParaRPr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C7B8D3-D1F2-B7B7-745C-6389A2554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76" y="1224330"/>
            <a:ext cx="7525518" cy="24147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80129D-CBC8-F4A2-5F75-89207E95D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75" y="3748161"/>
            <a:ext cx="7520321" cy="2081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896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A12F8A-0D03-EE8A-09A8-67137A79E3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075D57-0A5F-32EE-0F68-52874A577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49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437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613</Words>
  <Application>Microsoft Macintosh PowerPoint</Application>
  <PresentationFormat>Widescreen</PresentationFormat>
  <Paragraphs>214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Roboto</vt:lpstr>
      <vt:lpstr>Georgia</vt:lpstr>
      <vt:lpstr>Play</vt:lpstr>
      <vt:lpstr>Arial</vt:lpstr>
      <vt:lpstr>Noto Sans Symbols</vt:lpstr>
      <vt:lpstr>Office Theme</vt:lpstr>
      <vt:lpstr>LOAN DECISION SYSTEM</vt:lpstr>
      <vt:lpstr>Table of Contents</vt:lpstr>
      <vt:lpstr>Current Business Practices</vt:lpstr>
      <vt:lpstr>Target Model Performance ( Cost Benefit Analysis)</vt:lpstr>
      <vt:lpstr>Dataset &amp; Preprocessing</vt:lpstr>
      <vt:lpstr>Excluded Models</vt:lpstr>
      <vt:lpstr>Models Trained &amp; Selected</vt:lpstr>
      <vt:lpstr>Model Selection: Hyperparameter Tuning</vt:lpstr>
      <vt:lpstr>Model Selection: Threshold Tuning</vt:lpstr>
      <vt:lpstr>Prediction Explanation Using SHAP</vt:lpstr>
      <vt:lpstr>Demo</vt:lpstr>
      <vt:lpstr>Future Considerations &amp; Monitoring</vt:lpstr>
      <vt:lpstr>LOAN DECISION SYSTEM</vt:lpstr>
      <vt:lpstr>Appendix: Final Falling Rule List Table</vt:lpstr>
      <vt:lpstr>Appendix: Optimal Hyperparameters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Hsieh, Elma Yi-Chun (Simon Business School)</cp:lastModifiedBy>
  <cp:revision>13</cp:revision>
  <dcterms:modified xsi:type="dcterms:W3CDTF">2026-02-26T18:38:08Z</dcterms:modified>
</cp:coreProperties>
</file>